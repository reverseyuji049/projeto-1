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Hepta Slab Medium"/>
      <p:regular r:id="rId30"/>
      <p:bold r:id="rId31"/>
    </p:embeddedFont>
    <p:embeddedFont>
      <p:font typeface="Hepta Slab"/>
      <p:regular r:id="rId32"/>
      <p:bold r:id="rId33"/>
    </p:embeddedFont>
    <p:embeddedFont>
      <p:font typeface="Hepta Slab SemiBold"/>
      <p:regular r:id="rId34"/>
      <p:bold r:id="rId35"/>
    </p:embeddedFont>
    <p:embeddedFont>
      <p:font typeface="Barlow Medium"/>
      <p:regular r:id="rId36"/>
      <p:bold r:id="rId37"/>
      <p:italic r:id="rId38"/>
      <p:boldItalic r:id="rId39"/>
    </p:embeddedFont>
    <p:embeddedFont>
      <p:font typeface="Barlow Light"/>
      <p:regular r:id="rId40"/>
      <p:bold r:id="rId41"/>
      <p:italic r:id="rId42"/>
      <p:boldItalic r:id="rId43"/>
    </p:embeddedFont>
    <p:embeddedFont>
      <p:font typeface="Merriweather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Light-regular.fntdata"/><Relationship Id="rId20" Type="http://schemas.openxmlformats.org/officeDocument/2006/relationships/slide" Target="slides/slide15.xml"/><Relationship Id="rId42" Type="http://schemas.openxmlformats.org/officeDocument/2006/relationships/font" Target="fonts/BarlowLight-italic.fntdata"/><Relationship Id="rId41" Type="http://schemas.openxmlformats.org/officeDocument/2006/relationships/font" Target="fonts/BarlowLight-bold.fntdata"/><Relationship Id="rId22" Type="http://schemas.openxmlformats.org/officeDocument/2006/relationships/slide" Target="slides/slide17.xml"/><Relationship Id="rId44" Type="http://schemas.openxmlformats.org/officeDocument/2006/relationships/font" Target="fonts/Merriweather-regular.fntdata"/><Relationship Id="rId21" Type="http://schemas.openxmlformats.org/officeDocument/2006/relationships/slide" Target="slides/slide16.xml"/><Relationship Id="rId43" Type="http://schemas.openxmlformats.org/officeDocument/2006/relationships/font" Target="fonts/BarlowLight-boldItalic.fntdata"/><Relationship Id="rId24" Type="http://schemas.openxmlformats.org/officeDocument/2006/relationships/slide" Target="slides/slide19.xml"/><Relationship Id="rId46" Type="http://schemas.openxmlformats.org/officeDocument/2006/relationships/font" Target="fonts/Merriweather-italic.fntdata"/><Relationship Id="rId23" Type="http://schemas.openxmlformats.org/officeDocument/2006/relationships/slide" Target="slides/slide18.xml"/><Relationship Id="rId45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Merriweather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ptaSlabMedium-bold.fntdata"/><Relationship Id="rId30" Type="http://schemas.openxmlformats.org/officeDocument/2006/relationships/font" Target="fonts/HeptaSlabMedium-regular.fntdata"/><Relationship Id="rId11" Type="http://schemas.openxmlformats.org/officeDocument/2006/relationships/slide" Target="slides/slide6.xml"/><Relationship Id="rId33" Type="http://schemas.openxmlformats.org/officeDocument/2006/relationships/font" Target="fonts/HeptaSlab-bold.fntdata"/><Relationship Id="rId10" Type="http://schemas.openxmlformats.org/officeDocument/2006/relationships/slide" Target="slides/slide5.xml"/><Relationship Id="rId32" Type="http://schemas.openxmlformats.org/officeDocument/2006/relationships/font" Target="fonts/HeptaSlab-regular.fntdata"/><Relationship Id="rId13" Type="http://schemas.openxmlformats.org/officeDocument/2006/relationships/slide" Target="slides/slide8.xml"/><Relationship Id="rId35" Type="http://schemas.openxmlformats.org/officeDocument/2006/relationships/font" Target="fonts/HeptaSlabSemiBold-bold.fntdata"/><Relationship Id="rId12" Type="http://schemas.openxmlformats.org/officeDocument/2006/relationships/slide" Target="slides/slide7.xml"/><Relationship Id="rId34" Type="http://schemas.openxmlformats.org/officeDocument/2006/relationships/font" Target="fonts/HeptaSlab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BarlowMedium-bold.fntdata"/><Relationship Id="rId14" Type="http://schemas.openxmlformats.org/officeDocument/2006/relationships/slide" Target="slides/slide9.xml"/><Relationship Id="rId36" Type="http://schemas.openxmlformats.org/officeDocument/2006/relationships/font" Target="fonts/BarlowMedium-regular.fntdata"/><Relationship Id="rId17" Type="http://schemas.openxmlformats.org/officeDocument/2006/relationships/slide" Target="slides/slide12.xml"/><Relationship Id="rId39" Type="http://schemas.openxmlformats.org/officeDocument/2006/relationships/font" Target="fonts/BarlowMedium-boldItalic.fntdata"/><Relationship Id="rId16" Type="http://schemas.openxmlformats.org/officeDocument/2006/relationships/slide" Target="slides/slide11.xml"/><Relationship Id="rId38" Type="http://schemas.openxmlformats.org/officeDocument/2006/relationships/font" Target="fonts/BarlowMedium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2703cdc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2703cdc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2703cdc5b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2703cdc5b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2703cdc5b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2703cdc5b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2703cdc5b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2703cdc5b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2703cdc5b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2703cdc5b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2703cdc5b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2703cdc5b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2703cdc5b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2703cdc5b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2703cdc5b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2703cdc5b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2703cdc5b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2703cdc5b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2703cdc5b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2703cdc5b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2703cdc5b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2703cdc5b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2703cdc5b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2703cdc5b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2703cdc5b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2703cdc5b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2703cdc5b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2703cdc5b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2703cdc5b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2703cdc5b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2703cdc5b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2703cdc5b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2703cdc5b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2703cdc5b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2703cdc5b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2703cdc5b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2703cdc5b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2703cdc5b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2703cdc5b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2703cdc5b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2703cdc5b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2703cdc5b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2703cdc5b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2703cdc5b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2703cdc5b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2703cdc5b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2703cdc5b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2703cdc5b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SECTION_HEADER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 sz="1100">
                <a:solidFill>
                  <a:schemeClr val="dk2"/>
                </a:solidFill>
              </a:defRPr>
            </a:lvl1pPr>
            <a:lvl2pPr lvl="1">
              <a:buNone/>
              <a:defRPr sz="1100">
                <a:solidFill>
                  <a:schemeClr val="dk2"/>
                </a:solidFill>
              </a:defRPr>
            </a:lvl2pPr>
            <a:lvl3pPr lvl="2">
              <a:buNone/>
              <a:defRPr sz="1100">
                <a:solidFill>
                  <a:schemeClr val="dk2"/>
                </a:solidFill>
              </a:defRPr>
            </a:lvl3pPr>
            <a:lvl4pPr lvl="3">
              <a:buNone/>
              <a:defRPr sz="1100">
                <a:solidFill>
                  <a:schemeClr val="dk2"/>
                </a:solidFill>
              </a:defRPr>
            </a:lvl4pPr>
            <a:lvl5pPr lvl="4">
              <a:buNone/>
              <a:defRPr sz="1100">
                <a:solidFill>
                  <a:schemeClr val="dk2"/>
                </a:solidFill>
              </a:defRPr>
            </a:lvl5pPr>
            <a:lvl6pPr lvl="5">
              <a:buNone/>
              <a:defRPr sz="1100">
                <a:solidFill>
                  <a:schemeClr val="dk2"/>
                </a:solidFill>
              </a:defRPr>
            </a:lvl6pPr>
            <a:lvl7pPr lvl="6">
              <a:buNone/>
              <a:defRPr sz="1100">
                <a:solidFill>
                  <a:schemeClr val="dk2"/>
                </a:solidFill>
              </a:defRPr>
            </a:lvl7pPr>
            <a:lvl8pPr lvl="7">
              <a:buNone/>
              <a:defRPr sz="1100">
                <a:solidFill>
                  <a:schemeClr val="dk2"/>
                </a:solidFill>
              </a:defRPr>
            </a:lvl8pPr>
            <a:lvl9pPr lvl="8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youtu.be/1vWzOnu4Nq0?si=Sbcl9X3bTgBc1agU" TargetMode="External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sktop.github.com/download/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-lfs.com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github.com/ReverseYuji049/projeto-1.git" TargetMode="External"/><Relationship Id="rId4" Type="http://schemas.openxmlformats.org/officeDocument/2006/relationships/hyperlink" Target="https://sites.google.com/edu.unifil.br/pensamentocompyuji/p%C3%A1gina-inicial" TargetMode="Externa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32850" y="14408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4000"/>
              <a:t>GODOT: VERSIONAMENTO DE CÓDIGO</a:t>
            </a:r>
            <a:endParaRPr b="1" sz="4000"/>
          </a:p>
        </p:txBody>
      </p:sp>
      <p:sp>
        <p:nvSpPr>
          <p:cNvPr id="67" name="Google Shape;67;p15"/>
          <p:cNvSpPr txBox="1"/>
          <p:nvPr>
            <p:ph idx="2" type="subTitle"/>
          </p:nvPr>
        </p:nvSpPr>
        <p:spPr>
          <a:xfrm>
            <a:off x="2689200" y="3290325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Grupo de Jogos Obscura</a:t>
            </a:r>
            <a:endParaRPr b="1"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100"/>
              <a:buNone/>
            </a:pPr>
            <a:r>
              <a:rPr b="1"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Desenvolvido por</a:t>
            </a:r>
            <a:r>
              <a:rPr b="1"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Yuji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925" y="2571750"/>
            <a:ext cx="2137850" cy="213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b="24753" l="11840" r="18225" t="23989"/>
          <a:stretch/>
        </p:blipFill>
        <p:spPr>
          <a:xfrm>
            <a:off x="6396175" y="2571750"/>
            <a:ext cx="2179647" cy="213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714950" y="1989025"/>
            <a:ext cx="3326700" cy="28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EFEFEF"/>
                </a:solidFill>
                <a:latin typeface="Merriweather"/>
                <a:ea typeface="Merriweather"/>
                <a:cs typeface="Merriweather"/>
                <a:sym typeface="Merriweather"/>
              </a:rPr>
              <a:t>Essa apresentação tem como objetivo apresentar, de forma clara e organizada, os conceitos de versionamento de código utilizando o </a:t>
            </a:r>
            <a:r>
              <a:rPr b="1" lang="en" sz="2000">
                <a:solidFill>
                  <a:srgbClr val="EFEFEF"/>
                </a:solidFill>
                <a:latin typeface="Merriweather"/>
                <a:ea typeface="Merriweather"/>
                <a:cs typeface="Merriweather"/>
                <a:sym typeface="Merriweather"/>
              </a:rPr>
              <a:t>Git </a:t>
            </a:r>
            <a:r>
              <a:rPr lang="en" sz="2000">
                <a:solidFill>
                  <a:srgbClr val="EFEFEF"/>
                </a:solidFill>
                <a:latin typeface="Merriweather"/>
                <a:ea typeface="Merriweather"/>
                <a:cs typeface="Merriweather"/>
                <a:sym typeface="Merriweather"/>
              </a:rPr>
              <a:t>e </a:t>
            </a:r>
            <a:r>
              <a:rPr b="1" lang="en" sz="2000">
                <a:solidFill>
                  <a:srgbClr val="EFEFEF"/>
                </a:solidFill>
                <a:latin typeface="Merriweather"/>
                <a:ea typeface="Merriweather"/>
                <a:cs typeface="Merriweather"/>
                <a:sym typeface="Merriweather"/>
              </a:rPr>
              <a:t>Github</a:t>
            </a:r>
            <a:r>
              <a:rPr lang="en" sz="2000">
                <a:solidFill>
                  <a:srgbClr val="EFEFEF"/>
                </a:solidFill>
                <a:latin typeface="Merriweather"/>
                <a:ea typeface="Merriweather"/>
                <a:cs typeface="Merriweather"/>
                <a:sym typeface="Merriweather"/>
              </a:rPr>
              <a:t>, com focos em projetos desenvolvidos na </a:t>
            </a:r>
            <a:r>
              <a:rPr b="1" lang="en" sz="2000">
                <a:solidFill>
                  <a:srgbClr val="EFEFEF"/>
                </a:solidFill>
                <a:latin typeface="Merriweather"/>
                <a:ea typeface="Merriweather"/>
                <a:cs typeface="Merriweather"/>
                <a:sym typeface="Merriweather"/>
              </a:rPr>
              <a:t>Godot Engine</a:t>
            </a:r>
            <a:r>
              <a:rPr lang="en" sz="2000">
                <a:solidFill>
                  <a:srgbClr val="EFEFEF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 sz="2000">
              <a:solidFill>
                <a:srgbClr val="EFEFE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Introdução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550" y="1895650"/>
            <a:ext cx="437197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Referência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714950" y="1886125"/>
            <a:ext cx="78681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referência principal dessa pesquisa é do vídeo do canal </a:t>
            </a:r>
            <a:r>
              <a:rPr b="1" lang="en">
                <a:solidFill>
                  <a:schemeClr val="dk1"/>
                </a:solidFill>
              </a:rPr>
              <a:t>Guará Programador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https://youtu.be/1vWzOnu4Nq0?si=Sbcl9X3bTgBc1agU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24025"/>
            <a:ext cx="8839200" cy="216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501600" y="659800"/>
            <a:ext cx="79140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O que é versionamento de código?</a:t>
            </a:r>
            <a:endParaRPr sz="3300">
              <a:solidFill>
                <a:schemeClr val="dk1"/>
              </a:solidFill>
            </a:endParaRPr>
          </a:p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349200" y="1928050"/>
            <a:ext cx="4468500" cy="28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700">
                <a:solidFill>
                  <a:schemeClr val="dk1"/>
                </a:solidFill>
              </a:rPr>
              <a:t>O versionamento de código é crucial para desenvolvedores de código e equipes trabalharem de forma eficiente. Ele permite: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Rastrear todas as alterações feitas no código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Recuperar versões anteriores em caso de erro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Trabalhar em equipes simultaneamente no mesmo projeto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0100" y="2278600"/>
            <a:ext cx="3933224" cy="1964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Por usar o Git?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" name="Google Shape;96;p19"/>
          <p:cNvSpPr txBox="1"/>
          <p:nvPr>
            <p:ph idx="2" type="body"/>
          </p:nvPr>
        </p:nvSpPr>
        <p:spPr>
          <a:xfrm>
            <a:off x="554100" y="1897600"/>
            <a:ext cx="8211900" cy="29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 </a:t>
            </a:r>
            <a:r>
              <a:rPr b="1" lang="en">
                <a:solidFill>
                  <a:schemeClr val="dk1"/>
                </a:solidFill>
              </a:rPr>
              <a:t>Git</a:t>
            </a:r>
            <a:r>
              <a:rPr lang="en">
                <a:solidFill>
                  <a:schemeClr val="dk1"/>
                </a:solidFill>
              </a:rPr>
              <a:t> é um sistema de </a:t>
            </a:r>
            <a:r>
              <a:rPr b="1" lang="en">
                <a:solidFill>
                  <a:schemeClr val="dk1"/>
                </a:solidFill>
              </a:rPr>
              <a:t>controle de versão </a:t>
            </a:r>
            <a:r>
              <a:rPr lang="en">
                <a:solidFill>
                  <a:schemeClr val="dk1"/>
                </a:solidFill>
              </a:rPr>
              <a:t>distribuído que permite </a:t>
            </a:r>
            <a:r>
              <a:rPr b="1" lang="en">
                <a:solidFill>
                  <a:schemeClr val="dk1"/>
                </a:solidFill>
              </a:rPr>
              <a:t>rastrear todas as alterações feitas</a:t>
            </a:r>
            <a:r>
              <a:rPr lang="en">
                <a:solidFill>
                  <a:schemeClr val="dk1"/>
                </a:solidFill>
              </a:rPr>
              <a:t> em seu código ao longo do desenvolvimento.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Por </a:t>
            </a:r>
            <a:r>
              <a:rPr b="1" lang="en">
                <a:solidFill>
                  <a:schemeClr val="dk1"/>
                </a:solidFill>
              </a:rPr>
              <a:t>exemplo</a:t>
            </a:r>
            <a:r>
              <a:rPr lang="en">
                <a:solidFill>
                  <a:schemeClr val="dk1"/>
                </a:solidFill>
              </a:rPr>
              <a:t>, se um estagiário cometer um erro na versão atual, o trabalho não estará perdido, pois é possível retornar para as versões anteriores de seu projeto.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Principais vantagens:</a:t>
            </a:r>
            <a:r>
              <a:rPr lang="en">
                <a:solidFill>
                  <a:schemeClr val="dk1"/>
                </a:solidFill>
              </a:rPr>
              <a:t> controle do histórico, possibilidade de desfazer alterações, trabalho colaborativo em equipe e versionamento local sem depender da internet.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791150" y="522625"/>
            <a:ext cx="57804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Por que usar o Github?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20"/>
          <p:cNvSpPr txBox="1"/>
          <p:nvPr>
            <p:ph idx="2" type="body"/>
          </p:nvPr>
        </p:nvSpPr>
        <p:spPr>
          <a:xfrm>
            <a:off x="714950" y="1989025"/>
            <a:ext cx="74721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Para compartilhar o nosso projeto Git, precisamos de uma plataforma de hospedagem como o </a:t>
            </a:r>
            <a:r>
              <a:rPr b="1" lang="en">
                <a:solidFill>
                  <a:schemeClr val="dk1"/>
                </a:solidFill>
              </a:rPr>
              <a:t>Github</a:t>
            </a:r>
            <a:r>
              <a:rPr lang="en">
                <a:solidFill>
                  <a:schemeClr val="dk1"/>
                </a:solidFill>
              </a:rPr>
              <a:t>. Ele é um serviço onde que guarda os repositórios de códigos criados em Git. Ele funciona como: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Armazenamento em nuvem para projetos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Ferramenta de colaboração em equipe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Histórico visual de commits e alterações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É conhecido como uma “</a:t>
            </a:r>
            <a:r>
              <a:rPr b="1" i="1" lang="en">
                <a:solidFill>
                  <a:schemeClr val="dk1"/>
                </a:solidFill>
              </a:rPr>
              <a:t>rede social de devs</a:t>
            </a:r>
            <a:r>
              <a:rPr lang="en">
                <a:solidFill>
                  <a:schemeClr val="dk1"/>
                </a:solidFill>
              </a:rPr>
              <a:t>”.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660750" y="415950"/>
            <a:ext cx="78225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Como fazer o versionamento de código do Godot?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3528075" y="1989025"/>
            <a:ext cx="50703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Primeiro, vamos instalar o </a:t>
            </a:r>
            <a:r>
              <a:rPr b="1" lang="en">
                <a:solidFill>
                  <a:schemeClr val="dk1"/>
                </a:solidFill>
              </a:rPr>
              <a:t>Github Desktop</a:t>
            </a:r>
            <a:r>
              <a:rPr lang="en">
                <a:solidFill>
                  <a:schemeClr val="dk1"/>
                </a:solidFill>
              </a:rPr>
              <a:t>. É uma ferramenta que</a:t>
            </a:r>
            <a:r>
              <a:rPr b="1" lang="en">
                <a:solidFill>
                  <a:schemeClr val="dk1"/>
                </a:solidFill>
              </a:rPr>
              <a:t> gerencia o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Git</a:t>
            </a:r>
            <a:r>
              <a:rPr lang="en">
                <a:solidFill>
                  <a:schemeClr val="dk1"/>
                </a:solidFill>
              </a:rPr>
              <a:t>,</a:t>
            </a:r>
            <a:r>
              <a:rPr b="1" lang="en">
                <a:solidFill>
                  <a:schemeClr val="dk1"/>
                </a:solidFill>
              </a:rPr>
              <a:t> integrada diretamente com o Github</a:t>
            </a:r>
            <a:r>
              <a:rPr lang="en">
                <a:solidFill>
                  <a:schemeClr val="dk1"/>
                </a:solidFill>
              </a:rPr>
              <a:t>, sendo uma alternativa para subir o código no repositório de maneira simples.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https://desktop.github.com/download/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4">
            <a:alphaModFix/>
          </a:blip>
          <a:srcRect b="0" l="0" r="0" t="14023"/>
          <a:stretch/>
        </p:blipFill>
        <p:spPr>
          <a:xfrm>
            <a:off x="264525" y="1874787"/>
            <a:ext cx="3050201" cy="284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791150" y="339725"/>
            <a:ext cx="68775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Como colocar o Git no projeto Godot?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547325" y="1836625"/>
            <a:ext cx="3799200" cy="11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Ao criar um novo projeto no Godot, selecione: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Controle de Versão → Git 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815" y="1836625"/>
            <a:ext cx="3366609" cy="300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791150" y="339725"/>
            <a:ext cx="68775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Como colocar o Git no projeto Godot?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23"/>
          <p:cNvSpPr txBox="1"/>
          <p:nvPr>
            <p:ph idx="2" type="body"/>
          </p:nvPr>
        </p:nvSpPr>
        <p:spPr>
          <a:xfrm>
            <a:off x="547325" y="1836625"/>
            <a:ext cx="7914000" cy="14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 você já tem um projeto existente, basta clicar em: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Projeto → Controle de versão → Criar/</a:t>
            </a:r>
            <a:r>
              <a:rPr b="1" lang="en" sz="1400">
                <a:solidFill>
                  <a:schemeClr val="dk1"/>
                </a:solidFill>
              </a:rPr>
              <a:t>Sobrescrever</a:t>
            </a:r>
            <a:r>
              <a:rPr b="1" lang="en" sz="1400">
                <a:solidFill>
                  <a:schemeClr val="dk1"/>
                </a:solidFill>
              </a:rPr>
              <a:t> Metadados de Controle de Versão</a:t>
            </a:r>
            <a:endParaRPr b="1" sz="1400">
              <a:solidFill>
                <a:schemeClr val="dk1"/>
              </a:solidFill>
            </a:endParaRPr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913" y="2818950"/>
            <a:ext cx="5947974" cy="202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idx="1" type="subTitle"/>
          </p:nvPr>
        </p:nvSpPr>
        <p:spPr>
          <a:xfrm>
            <a:off x="791150" y="522625"/>
            <a:ext cx="70605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Criando repositório local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24"/>
          <p:cNvSpPr txBox="1"/>
          <p:nvPr>
            <p:ph idx="2" type="body"/>
          </p:nvPr>
        </p:nvSpPr>
        <p:spPr>
          <a:xfrm>
            <a:off x="730175" y="2050000"/>
            <a:ext cx="46167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Abra o </a:t>
            </a:r>
            <a:r>
              <a:rPr b="1" lang="en">
                <a:solidFill>
                  <a:schemeClr val="dk1"/>
                </a:solidFill>
              </a:rPr>
              <a:t>Github Desktop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Clique em: </a:t>
            </a:r>
            <a:r>
              <a:rPr b="1" lang="en">
                <a:solidFill>
                  <a:schemeClr val="dk1"/>
                </a:solidFill>
              </a:rPr>
              <a:t>File → Add local repository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Selecione a pasta do projeto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Clique em </a:t>
            </a:r>
            <a:r>
              <a:rPr b="1" lang="en">
                <a:solidFill>
                  <a:schemeClr val="dk1"/>
                </a:solidFill>
              </a:rPr>
              <a:t>create repository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875" y="1966100"/>
            <a:ext cx="4049850" cy="24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" type="subTitle"/>
          </p:nvPr>
        </p:nvSpPr>
        <p:spPr>
          <a:xfrm>
            <a:off x="791150" y="522625"/>
            <a:ext cx="70605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Criando repositório local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6" name="Google Shape;136;p25"/>
          <p:cNvSpPr txBox="1"/>
          <p:nvPr>
            <p:ph idx="2" type="body"/>
          </p:nvPr>
        </p:nvSpPr>
        <p:spPr>
          <a:xfrm>
            <a:off x="791150" y="2080475"/>
            <a:ext cx="3780900" cy="24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Ao criar: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Defina o nome e descrição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Crie um README se necessário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Adicione um .gitignore (selecione Godot)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Escolha uma licença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50" y="1776025"/>
            <a:ext cx="3233875" cy="302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265500" y="1233175"/>
            <a:ext cx="4045200" cy="61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pta Slab Medium"/>
                <a:ea typeface="Hepta Slab Medium"/>
                <a:cs typeface="Hepta Slab Medium"/>
                <a:sym typeface="Hepta Slab Medium"/>
              </a:rPr>
              <a:t>Licença</a:t>
            </a:r>
            <a:endParaRPr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143" name="Google Shape;143;p26"/>
          <p:cNvSpPr txBox="1"/>
          <p:nvPr>
            <p:ph idx="1" type="subTitle"/>
          </p:nvPr>
        </p:nvSpPr>
        <p:spPr>
          <a:xfrm>
            <a:off x="265500" y="2017775"/>
            <a:ext cx="4045200" cy="28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 </a:t>
            </a:r>
            <a:r>
              <a:rPr b="1"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licença</a:t>
            </a: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é um essencial para o seu repositório, pois todo código é considerado uma propriedade intelectual e precisamos de um documento que reconheça o autor e regule o seu uso. 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 recomendação é usar a  </a:t>
            </a:r>
            <a:r>
              <a:rPr b="1"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MIT License</a:t>
            </a: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, por ser simples e permissiva.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8700" y="257175"/>
            <a:ext cx="4267200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idx="2" type="body"/>
          </p:nvPr>
        </p:nvSpPr>
        <p:spPr>
          <a:xfrm>
            <a:off x="577775" y="1912825"/>
            <a:ext cx="39210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Agora com o repositório criado, podemos controlar os arquivos do seu código e publicá-lo no Github: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Vá até a aba </a:t>
            </a:r>
            <a:r>
              <a:rPr b="1" lang="en">
                <a:solidFill>
                  <a:schemeClr val="dk1"/>
                </a:solidFill>
              </a:rPr>
              <a:t>Changes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Registre as alterações com um </a:t>
            </a:r>
            <a:r>
              <a:rPr b="1" lang="en">
                <a:solidFill>
                  <a:schemeClr val="dk1"/>
                </a:solidFill>
              </a:rPr>
              <a:t>commit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Clique em </a:t>
            </a:r>
            <a:r>
              <a:rPr b="1" lang="en">
                <a:solidFill>
                  <a:schemeClr val="dk1"/>
                </a:solidFill>
              </a:rPr>
              <a:t>Publish Repository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27"/>
          <p:cNvSpPr txBox="1"/>
          <p:nvPr>
            <p:ph idx="1" type="subTitle"/>
          </p:nvPr>
        </p:nvSpPr>
        <p:spPr>
          <a:xfrm>
            <a:off x="791150" y="522625"/>
            <a:ext cx="7548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Publicando repositório no Github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7825" y="1912825"/>
            <a:ext cx="4213775" cy="289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idx="2" type="body"/>
          </p:nvPr>
        </p:nvSpPr>
        <p:spPr>
          <a:xfrm>
            <a:off x="577775" y="1912825"/>
            <a:ext cx="3994200" cy="19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Ao clicar em Publish repository, preenche o nome do repositório e sua descrição. Também é possível colocá-lo como privado e atribuído a alguma organização.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28"/>
          <p:cNvSpPr txBox="1"/>
          <p:nvPr>
            <p:ph idx="1" type="subTitle"/>
          </p:nvPr>
        </p:nvSpPr>
        <p:spPr>
          <a:xfrm>
            <a:off x="791150" y="522625"/>
            <a:ext cx="7548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Publicando repositório no Github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3575" y="1783225"/>
            <a:ext cx="3908285" cy="320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idx="1" type="subTitle"/>
          </p:nvPr>
        </p:nvSpPr>
        <p:spPr>
          <a:xfrm>
            <a:off x="791150" y="522625"/>
            <a:ext cx="74415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Atualizações </a:t>
            </a:r>
            <a:r>
              <a:rPr lang="en">
                <a:solidFill>
                  <a:schemeClr val="dk1"/>
                </a:solidFill>
              </a:rPr>
              <a:t>do Repositório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" name="Google Shape;164;p29"/>
          <p:cNvSpPr txBox="1"/>
          <p:nvPr>
            <p:ph idx="2" type="body"/>
          </p:nvPr>
        </p:nvSpPr>
        <p:spPr>
          <a:xfrm>
            <a:off x="364425" y="1943300"/>
            <a:ext cx="45282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Para registrar as atualizações, deve-se criar um </a:t>
            </a:r>
            <a:r>
              <a:rPr b="1" lang="en">
                <a:solidFill>
                  <a:schemeClr val="dk1"/>
                </a:solidFill>
              </a:rPr>
              <a:t>Commit</a:t>
            </a:r>
            <a:r>
              <a:rPr lang="en">
                <a:solidFill>
                  <a:schemeClr val="dk1"/>
                </a:solidFill>
              </a:rPr>
              <a:t> com as mudanças e arquivos selecionados.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Ao registrá-lo, ele aparecerá no </a:t>
            </a:r>
            <a:r>
              <a:rPr b="1" lang="en">
                <a:solidFill>
                  <a:schemeClr val="dk1"/>
                </a:solidFill>
              </a:rPr>
              <a:t>History</a:t>
            </a:r>
            <a:r>
              <a:rPr lang="en">
                <a:solidFill>
                  <a:schemeClr val="dk1"/>
                </a:solidFill>
              </a:rPr>
              <a:t> (Histórico). Precisamos atualizar o repositório Github com essas mudanças locais.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625" y="2211850"/>
            <a:ext cx="4130724" cy="195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idx="1" type="subTitle"/>
          </p:nvPr>
        </p:nvSpPr>
        <p:spPr>
          <a:xfrm>
            <a:off x="791150" y="522625"/>
            <a:ext cx="74415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Atualizações do Repositório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" name="Google Shape;171;p30"/>
          <p:cNvSpPr txBox="1"/>
          <p:nvPr>
            <p:ph idx="2" type="body"/>
          </p:nvPr>
        </p:nvSpPr>
        <p:spPr>
          <a:xfrm>
            <a:off x="364425" y="1943300"/>
            <a:ext cx="39465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Quando houver qualquer alteração do Github que não seja na sua máquina local, é preciso pedir permissão no Github Desktop, clicando em </a:t>
            </a:r>
            <a:r>
              <a:rPr b="1" lang="en">
                <a:solidFill>
                  <a:schemeClr val="dk1"/>
                </a:solidFill>
              </a:rPr>
              <a:t>Fetch origin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Se houver atualizações na nuvem, aparecerá o </a:t>
            </a:r>
            <a:r>
              <a:rPr b="1" lang="en">
                <a:solidFill>
                  <a:schemeClr val="dk1"/>
                </a:solidFill>
              </a:rPr>
              <a:t>Pull origin</a:t>
            </a:r>
            <a:r>
              <a:rPr lang="en">
                <a:solidFill>
                  <a:schemeClr val="dk1"/>
                </a:solidFill>
              </a:rPr>
              <a:t> para puxá-las ao repositório local.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343" y="1783225"/>
            <a:ext cx="4244258" cy="296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Vamos supor que você precisa dividir as tarefas entre integrantes de sua equipe e que cada um esteja encarregado de uma função específica.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1"/>
          <p:cNvSpPr txBox="1"/>
          <p:nvPr>
            <p:ph type="title"/>
          </p:nvPr>
        </p:nvSpPr>
        <p:spPr>
          <a:xfrm>
            <a:off x="265500" y="724200"/>
            <a:ext cx="4045200" cy="9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Hepta Slab SemiBold"/>
                <a:ea typeface="Hepta Slab SemiBold"/>
                <a:cs typeface="Hepta Slab SemiBold"/>
                <a:sym typeface="Hepta Slab SemiBold"/>
              </a:rPr>
              <a:t>Integração no Trabalho de Equipe</a:t>
            </a:r>
            <a:endParaRPr sz="2780">
              <a:latin typeface="Hepta Slab SemiBold"/>
              <a:ea typeface="Hepta Slab SemiBold"/>
              <a:cs typeface="Hepta Slab SemiBold"/>
              <a:sym typeface="Hepta Slab SemiBold"/>
            </a:endParaRPr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500" y="1971675"/>
            <a:ext cx="4045200" cy="2184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idx="2" type="body"/>
          </p:nvPr>
        </p:nvSpPr>
        <p:spPr>
          <a:xfrm>
            <a:off x="4939500" y="724200"/>
            <a:ext cx="3837000" cy="37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100"/>
              <a:t>Branches</a:t>
            </a:r>
            <a:r>
              <a:rPr lang="en" sz="2100"/>
              <a:t> são bifurcações/ramificações de uma árvore que contém diferentes versões do seu código. Todo projeto Git começa com a </a:t>
            </a:r>
            <a:r>
              <a:rPr b="1" lang="en" sz="2100"/>
              <a:t>branch main</a:t>
            </a:r>
            <a:r>
              <a:rPr lang="en" sz="2100"/>
              <a:t> que contém versões estáveis do produto. Como estamos produzindo recursos para o jogo, é recomendável criar uma </a:t>
            </a:r>
            <a:r>
              <a:rPr b="1" lang="en" sz="2100"/>
              <a:t>branch separada</a:t>
            </a:r>
            <a:r>
              <a:rPr lang="en" sz="2100"/>
              <a:t> para unir futuramente à main.</a:t>
            </a:r>
            <a:endParaRPr/>
          </a:p>
        </p:txBody>
      </p:sp>
      <p:sp>
        <p:nvSpPr>
          <p:cNvPr id="185" name="Google Shape;185;p32"/>
          <p:cNvSpPr txBox="1"/>
          <p:nvPr>
            <p:ph type="title"/>
          </p:nvPr>
        </p:nvSpPr>
        <p:spPr>
          <a:xfrm>
            <a:off x="369600" y="724200"/>
            <a:ext cx="3837000" cy="9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>
                <a:latin typeface="Hepta Slab SemiBold"/>
                <a:ea typeface="Hepta Slab SemiBold"/>
                <a:cs typeface="Hepta Slab SemiBold"/>
                <a:sym typeface="Hepta Slab SemiBold"/>
              </a:rPr>
              <a:t>Branches</a:t>
            </a:r>
            <a:endParaRPr sz="3780">
              <a:latin typeface="Hepta Slab SemiBold"/>
              <a:ea typeface="Hepta Slab SemiBold"/>
              <a:cs typeface="Hepta Slab SemiBold"/>
              <a:sym typeface="Hepta Slab SemiBold"/>
            </a:endParaRPr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50" y="2203925"/>
            <a:ext cx="4158300" cy="20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311700" y="445025"/>
            <a:ext cx="5454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80">
                <a:latin typeface="Hepta Slab SemiBold"/>
                <a:ea typeface="Hepta Slab SemiBold"/>
                <a:cs typeface="Hepta Slab SemiBold"/>
                <a:sym typeface="Hepta Slab SemiBold"/>
              </a:rPr>
              <a:t>Merge e Pull Request</a:t>
            </a:r>
            <a:endParaRPr sz="2880">
              <a:latin typeface="Hepta Slab SemiBold"/>
              <a:ea typeface="Hepta Slab SemiBold"/>
              <a:cs typeface="Hepta Slab SemiBold"/>
              <a:sym typeface="Hepta Slab SemiBold"/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231775" y="1085825"/>
            <a:ext cx="7502400" cy="1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No </a:t>
            </a:r>
            <a:r>
              <a:rPr b="1" lang="en" sz="1700">
                <a:solidFill>
                  <a:schemeClr val="dk1"/>
                </a:solidFill>
              </a:rPr>
              <a:t>Github Desktop</a:t>
            </a:r>
            <a:r>
              <a:rPr lang="en" sz="1700">
                <a:solidFill>
                  <a:schemeClr val="dk1"/>
                </a:solidFill>
              </a:rPr>
              <a:t>, podemos ver qual </a:t>
            </a:r>
            <a:r>
              <a:rPr b="1" lang="en" sz="1700">
                <a:solidFill>
                  <a:schemeClr val="dk1"/>
                </a:solidFill>
              </a:rPr>
              <a:t>branch </a:t>
            </a:r>
            <a:r>
              <a:rPr lang="en" sz="1700">
                <a:solidFill>
                  <a:schemeClr val="dk1"/>
                </a:solidFill>
              </a:rPr>
              <a:t>você está e criar uma nova branch. Assim qualquer alteração no código será registrada nesta branch selecionada.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Para integrar essas mudanças da nova branch na principal, basta criar um </a:t>
            </a:r>
            <a:r>
              <a:rPr b="1" lang="en" sz="1700">
                <a:solidFill>
                  <a:schemeClr val="dk1"/>
                </a:solidFill>
              </a:rPr>
              <a:t>Pull Request </a:t>
            </a:r>
            <a:r>
              <a:rPr lang="en" sz="1700">
                <a:solidFill>
                  <a:schemeClr val="dk1"/>
                </a:solidFill>
              </a:rPr>
              <a:t>no </a:t>
            </a:r>
            <a:r>
              <a:rPr b="1" lang="en" sz="1700">
                <a:solidFill>
                  <a:schemeClr val="dk1"/>
                </a:solidFill>
              </a:rPr>
              <a:t>Github</a:t>
            </a:r>
            <a:r>
              <a:rPr lang="en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538" y="2994500"/>
            <a:ext cx="5846925" cy="194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pta Slab SemiBold"/>
                <a:ea typeface="Hepta Slab SemiBold"/>
                <a:cs typeface="Hepta Slab SemiBold"/>
                <a:sym typeface="Hepta Slab SemiBold"/>
              </a:rPr>
              <a:t>Merge Conflict</a:t>
            </a:r>
            <a:endParaRPr>
              <a:latin typeface="Hepta Slab SemiBold"/>
              <a:ea typeface="Hepta Slab SemiBold"/>
              <a:cs typeface="Hepta Slab SemiBold"/>
              <a:sym typeface="Hepta Slab SemiBold"/>
            </a:endParaRPr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O </a:t>
            </a:r>
            <a:r>
              <a:rPr b="1" lang="en" sz="2000">
                <a:solidFill>
                  <a:schemeClr val="dk1"/>
                </a:solidFill>
              </a:rPr>
              <a:t>Github</a:t>
            </a:r>
            <a:r>
              <a:rPr lang="en" sz="2000">
                <a:solidFill>
                  <a:schemeClr val="dk1"/>
                </a:solidFill>
              </a:rPr>
              <a:t> irá verificar se o </a:t>
            </a:r>
            <a:r>
              <a:rPr b="1" lang="en" sz="2000">
                <a:solidFill>
                  <a:schemeClr val="dk1"/>
                </a:solidFill>
              </a:rPr>
              <a:t>merge </a:t>
            </a:r>
            <a:r>
              <a:rPr lang="en" sz="2000">
                <a:solidFill>
                  <a:schemeClr val="dk1"/>
                </a:solidFill>
              </a:rPr>
              <a:t>(mesclagem) é possível. Se não for possível, pode ocorrer o erro </a:t>
            </a:r>
            <a:r>
              <a:rPr b="1" lang="en" sz="2000">
                <a:solidFill>
                  <a:schemeClr val="dk1"/>
                </a:solidFill>
              </a:rPr>
              <a:t>Merge Conflict</a:t>
            </a:r>
            <a:r>
              <a:rPr lang="en" sz="2000">
                <a:solidFill>
                  <a:schemeClr val="dk1"/>
                </a:solidFill>
              </a:rPr>
              <a:t> (Conflito de Mesclagem), tendo alterações no mesmo trecho e na mesma seção do código em diferentes commits. Assim, a ferramenta não saberá qual modificação será mantida.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O </a:t>
            </a:r>
            <a:r>
              <a:rPr b="1" lang="en" sz="2000">
                <a:solidFill>
                  <a:schemeClr val="dk1"/>
                </a:solidFill>
              </a:rPr>
              <a:t>Github </a:t>
            </a:r>
            <a:r>
              <a:rPr lang="en" sz="2000">
                <a:solidFill>
                  <a:schemeClr val="dk1"/>
                </a:solidFill>
              </a:rPr>
              <a:t>permite resolver esses conflitos no botão “</a:t>
            </a:r>
            <a:r>
              <a:rPr b="1" lang="en" sz="2000">
                <a:solidFill>
                  <a:schemeClr val="dk1"/>
                </a:solidFill>
              </a:rPr>
              <a:t>Resolve conflicts</a:t>
            </a:r>
            <a:r>
              <a:rPr lang="en" sz="2000">
                <a:solidFill>
                  <a:schemeClr val="dk1"/>
                </a:solidFill>
              </a:rPr>
              <a:t>”, porém é recomendado solucionar na própria </a:t>
            </a:r>
            <a:r>
              <a:rPr b="1" lang="en" sz="2000">
                <a:solidFill>
                  <a:schemeClr val="dk1"/>
                </a:solidFill>
              </a:rPr>
              <a:t>máquina local</a:t>
            </a:r>
            <a:r>
              <a:rPr lang="en" sz="2000">
                <a:solidFill>
                  <a:schemeClr val="dk1"/>
                </a:solidFill>
              </a:rPr>
              <a:t> através de </a:t>
            </a:r>
            <a:r>
              <a:rPr b="1" lang="en" sz="2000">
                <a:solidFill>
                  <a:schemeClr val="dk1"/>
                </a:solidFill>
              </a:rPr>
              <a:t>commits</a:t>
            </a:r>
            <a:r>
              <a:rPr lang="en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265500" y="4235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pta Slab SemiBold"/>
                <a:ea typeface="Hepta Slab SemiBold"/>
                <a:cs typeface="Hepta Slab SemiBold"/>
                <a:sym typeface="Hepta Slab SemiBold"/>
              </a:rPr>
              <a:t>Git Large File Storage</a:t>
            </a:r>
            <a:endParaRPr>
              <a:latin typeface="Hepta Slab SemiBold"/>
              <a:ea typeface="Hepta Slab SemiBold"/>
              <a:cs typeface="Hepta Slab SemiBold"/>
              <a:sym typeface="Hepta Slab SemiBold"/>
            </a:endParaRPr>
          </a:p>
        </p:txBody>
      </p:sp>
      <p:sp>
        <p:nvSpPr>
          <p:cNvPr id="205" name="Google Shape;205;p3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resolver isso, temos o </a:t>
            </a:r>
            <a:r>
              <a:rPr b="1" lang="en"/>
              <a:t>Git Large File Storage</a:t>
            </a:r>
            <a:r>
              <a:rPr lang="en"/>
              <a:t> que os-gerencia, criando referências para eles, enquanto os arquivos reais são armazenados </a:t>
            </a:r>
            <a:r>
              <a:rPr lang="en"/>
              <a:t>separadamente</a:t>
            </a:r>
            <a:r>
              <a:rPr lang="en"/>
              <a:t>.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https://git-lfs.com/</a:t>
            </a:r>
            <a:r>
              <a:rPr lang="en"/>
              <a:t> </a:t>
            </a:r>
            <a:endParaRPr/>
          </a:p>
        </p:txBody>
      </p:sp>
      <p:sp>
        <p:nvSpPr>
          <p:cNvPr id="206" name="Google Shape;206;p35"/>
          <p:cNvSpPr txBox="1"/>
          <p:nvPr>
            <p:ph idx="1" type="subTitle"/>
          </p:nvPr>
        </p:nvSpPr>
        <p:spPr>
          <a:xfrm>
            <a:off x="265500" y="1905850"/>
            <a:ext cx="4045200" cy="29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Conforme o crescimento do seu projeto, você provavelmente irá lidar com </a:t>
            </a:r>
            <a:r>
              <a:rPr b="1" lang="en">
                <a:solidFill>
                  <a:schemeClr val="dk1"/>
                </a:solidFill>
              </a:rPr>
              <a:t>arquivos grandes </a:t>
            </a:r>
            <a:r>
              <a:rPr lang="en">
                <a:solidFill>
                  <a:schemeClr val="dk1"/>
                </a:solidFill>
              </a:rPr>
              <a:t>como </a:t>
            </a:r>
            <a:r>
              <a:rPr b="1" lang="en">
                <a:solidFill>
                  <a:schemeClr val="dk1"/>
                </a:solidFill>
              </a:rPr>
              <a:t>texturas, objetos 3D ou arquivos de áudio.</a:t>
            </a:r>
            <a:r>
              <a:rPr lang="en">
                <a:solidFill>
                  <a:schemeClr val="dk1"/>
                </a:solidFill>
              </a:rPr>
              <a:t> Isso é um problema por conta do limite dos repositórios no Github.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265500" y="4235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pta Slab SemiBold"/>
                <a:ea typeface="Hepta Slab SemiBold"/>
                <a:cs typeface="Hepta Slab SemiBold"/>
                <a:sym typeface="Hepta Slab SemiBold"/>
              </a:rPr>
              <a:t>Git Large File Storage</a:t>
            </a:r>
            <a:endParaRPr>
              <a:latin typeface="Hepta Slab SemiBold"/>
              <a:ea typeface="Hepta Slab SemiBold"/>
              <a:cs typeface="Hepta Slab SemiBold"/>
              <a:sym typeface="Hepta Slab SemiBold"/>
            </a:endParaRPr>
          </a:p>
        </p:txBody>
      </p:sp>
      <p:sp>
        <p:nvSpPr>
          <p:cNvPr id="212" name="Google Shape;212;p36"/>
          <p:cNvSpPr txBox="1"/>
          <p:nvPr>
            <p:ph idx="2" type="body"/>
          </p:nvPr>
        </p:nvSpPr>
        <p:spPr>
          <a:xfrm>
            <a:off x="4715425" y="962325"/>
            <a:ext cx="404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Ao abrir o CMD, utilize os comandos:</a:t>
            </a:r>
            <a:endParaRPr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Instalar o Git LFS:</a:t>
            </a:r>
            <a:r>
              <a:rPr lang="en" sz="1900"/>
              <a:t> git lfs install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Rastrear determinado arquivo grande: </a:t>
            </a:r>
            <a:r>
              <a:rPr lang="en" sz="1900"/>
              <a:t>git lfs track “[NOME]”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- </a:t>
            </a:r>
            <a:r>
              <a:rPr b="1" lang="en" sz="1900"/>
              <a:t>Imagens:</a:t>
            </a:r>
            <a:r>
              <a:rPr lang="en" sz="1900"/>
              <a:t> git lfs track “*.png”</a:t>
            </a:r>
            <a:endParaRPr sz="19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- </a:t>
            </a:r>
            <a:r>
              <a:rPr b="1" lang="en" sz="1900"/>
              <a:t>Áudios:</a:t>
            </a:r>
            <a:r>
              <a:rPr lang="en" sz="1900"/>
              <a:t> git lfs track “*.wav”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6"/>
          <p:cNvSpPr txBox="1"/>
          <p:nvPr>
            <p:ph idx="1" type="subTitle"/>
          </p:nvPr>
        </p:nvSpPr>
        <p:spPr>
          <a:xfrm>
            <a:off x="265500" y="2159850"/>
            <a:ext cx="4045200" cy="16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Infelizmente, não é possível usá-lo no Github Desktop, é necessário usar o terminal.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Repository → Open in Command Prompt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idx="2" type="body"/>
          </p:nvPr>
        </p:nvSpPr>
        <p:spPr>
          <a:xfrm>
            <a:off x="413325" y="1989000"/>
            <a:ext cx="8178300" cy="31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 uso de </a:t>
            </a:r>
            <a:r>
              <a:rPr b="1" lang="en">
                <a:solidFill>
                  <a:schemeClr val="dk1"/>
                </a:solidFill>
              </a:rPr>
              <a:t>Git </a:t>
            </a:r>
            <a:r>
              <a:rPr lang="en">
                <a:solidFill>
                  <a:schemeClr val="dk1"/>
                </a:solidFill>
              </a:rPr>
              <a:t>e </a:t>
            </a:r>
            <a:r>
              <a:rPr b="1" lang="en">
                <a:solidFill>
                  <a:schemeClr val="dk1"/>
                </a:solidFill>
              </a:rPr>
              <a:t>GitHub </a:t>
            </a:r>
            <a:r>
              <a:rPr lang="en">
                <a:solidFill>
                  <a:schemeClr val="dk1"/>
                </a:solidFill>
              </a:rPr>
              <a:t>é fundamental para garantir: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Organização do projeto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Segurança do código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Colaboração eficiente em equipe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utilização dessas ferramentas permite que o desenvolvimento seja mais profissional, escalável e confiável.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37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rPr>
              <a:t>Conclusão</a:t>
            </a:r>
            <a:endParaRPr b="1">
              <a:solidFill>
                <a:schemeClr val="dk1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Veja também: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5" name="Google Shape;225;p38"/>
          <p:cNvSpPr txBox="1"/>
          <p:nvPr>
            <p:ph idx="2" type="body"/>
          </p:nvPr>
        </p:nvSpPr>
        <p:spPr>
          <a:xfrm>
            <a:off x="519225" y="1973288"/>
            <a:ext cx="42729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Meu repositório contendo estudos de Godot através do curso no Youtube do professor Rafael Forbeck: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accent5"/>
                </a:solidFill>
                <a:latin typeface="Merriweather"/>
                <a:ea typeface="Merriweather"/>
                <a:cs typeface="Merriweather"/>
                <a:sym typeface="Merriweath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https://github.com/ReverseYuji049/projeto-1.git</a:t>
            </a:r>
            <a:endParaRPr sz="1900">
              <a:solidFill>
                <a:schemeClr val="accent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Meu portfólio Unifil: </a:t>
            </a:r>
            <a:endParaRPr sz="1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4"/>
              </a:rPr>
              <a:t>https://sites.google.com/edu.unifil.br/pensamentocompyuji/p%C3%A1gina-inicial</a:t>
            </a:r>
            <a:r>
              <a:rPr lang="en" sz="17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sz="17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26" name="Google Shape;22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4375" y="1989025"/>
            <a:ext cx="3851348" cy="2772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